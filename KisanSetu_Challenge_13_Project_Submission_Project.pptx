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5" r:id="rId5"/>
    <p:sldId id="290" r:id="rId6"/>
    <p:sldId id="291" r:id="rId7"/>
    <p:sldId id="278" r:id="rId8"/>
    <p:sldId id="264" r:id="rId9"/>
    <p:sldId id="286" r:id="rId10"/>
    <p:sldId id="287" r:id="rId11"/>
    <p:sldId id="280" r:id="rId12"/>
    <p:sldId id="288" r:id="rId13"/>
    <p:sldId id="289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4" d="100"/>
          <a:sy n="54" d="100"/>
        </p:scale>
        <p:origin x="112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71379E1-4237-2D5F-886F-729570E64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6AE1198-5D52-BCAE-BBED-797B9FC70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47CC933-4082-A55F-7B42-FD4881D6EC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9668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D32385F-CD70-454B-86AD-2C3EB8343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02881EA3-F8EB-5049-B23A-4C7D4CBBF9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018600F-EFC9-05DE-A590-93C4E935F5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4199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hyperlink" Target="mailto:greshidoshi779@gmail.com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hetvibhatt.co24d1@scet.ac.in" TargetMode="External"/><Relationship Id="rId5" Type="http://schemas.openxmlformats.org/officeDocument/2006/relationships/hyperlink" Target="mailto:hetvibhatt1977@gmail.com" TargetMode="External"/><Relationship Id="rId4" Type="http://schemas.openxmlformats.org/officeDocument/2006/relationships/hyperlink" Target="mailto:greshidoshi.co24d1@scet.ac.i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55448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Arial"/>
              </a:rPr>
              <a:t>IBM University Engagement Project Submission</a:t>
            </a:r>
            <a:endParaRPr sz="30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7254" y="2423160"/>
            <a:ext cx="7218451" cy="412421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200" b="1" dirty="0">
                <a:solidFill>
                  <a:srgbClr val="075D2D"/>
                </a:solidFill>
                <a:latin typeface="Arial"/>
              </a:rPr>
              <a:t>“Exploring the Power of Agentic AI with IBM Granite”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246120"/>
            <a:ext cx="10149840" cy="84330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 dirty="0">
                <a:solidFill>
                  <a:srgbClr val="12964C"/>
                </a:solidFill>
                <a:latin typeface="Arial"/>
              </a:rPr>
              <a:t>Challenge 13 – AI-Powered Cotton &amp; Groundnut Market Linkage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6908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800" b="0" dirty="0">
                <a:solidFill>
                  <a:srgbClr val="5F6964"/>
                </a:solidFill>
                <a:latin typeface="Arial"/>
              </a:rPr>
              <a:t>Domain: Economic Development | Focus: Gujarat Agriculture</a:t>
            </a:r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438912"/>
            <a:ext cx="10993068" cy="84330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dirty="0">
                <a:solidFill>
                  <a:srgbClr val="000000"/>
                </a:solidFill>
                <a:latin typeface="Arial"/>
              </a:rPr>
              <a:t>Project Title – </a:t>
            </a:r>
            <a:r>
              <a:rPr sz="2500" b="1" dirty="0" err="1">
                <a:solidFill>
                  <a:srgbClr val="000000"/>
                </a:solidFill>
                <a:latin typeface="Arial"/>
              </a:rPr>
              <a:t>KisanSetu</a:t>
            </a:r>
            <a:r>
              <a:rPr sz="2500" b="1" dirty="0">
                <a:solidFill>
                  <a:srgbClr val="000000"/>
                </a:solidFill>
                <a:latin typeface="Arial"/>
              </a:rPr>
              <a:t>: AI-Powered Cotton &amp; Groundnut Market Linkage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261872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dirty="0">
                <a:solidFill>
                  <a:srgbClr val="000000"/>
                </a:solidFill>
                <a:latin typeface="Arial"/>
              </a:rPr>
              <a:t>Domain of Project – Economic Development / Agriculture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100881"/>
              </p:ext>
            </p:extLst>
          </p:nvPr>
        </p:nvGraphicFramePr>
        <p:xfrm>
          <a:off x="1143000" y="2331720"/>
          <a:ext cx="9418320" cy="4229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7259"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000000"/>
                          </a:solidFill>
                          <a:latin typeface="Arial"/>
                        </a:rPr>
                        <a:t>Student Name</a:t>
                      </a:r>
                    </a:p>
                  </a:txBody>
                  <a:tcPr>
                    <a:solidFill>
                      <a:srgbClr val="4D8E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000000"/>
                          </a:solidFill>
                          <a:latin typeface="Arial"/>
                        </a:rPr>
                        <a:t>Recent Passport Photo</a:t>
                      </a:r>
                    </a:p>
                  </a:txBody>
                  <a:tcPr>
                    <a:solidFill>
                      <a:srgbClr val="4D8E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Email ID</a:t>
                      </a:r>
                    </a:p>
                  </a:txBody>
                  <a:tcPr>
                    <a:solidFill>
                      <a:srgbClr val="4D8E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000000"/>
                          </a:solidFill>
                          <a:latin typeface="Arial"/>
                        </a:rPr>
                        <a:t>Mobile number</a:t>
                      </a:r>
                    </a:p>
                    <a:p>
                      <a:r>
                        <a:rPr dirty="0"/>
                        <a:t>[WhatsApp]</a:t>
                      </a:r>
                    </a:p>
                  </a:txBody>
                  <a:tcPr>
                    <a:solidFill>
                      <a:srgbClr val="4D8E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2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rgbClr val="192D23"/>
                          </a:solidFill>
                          <a:latin typeface="+mn-lt"/>
                        </a:rPr>
                        <a:t>Team </a:t>
                      </a:r>
                      <a:r>
                        <a:rPr lang="en-IN" sz="1400" b="1" dirty="0" err="1">
                          <a:solidFill>
                            <a:srgbClr val="192D23"/>
                          </a:solidFill>
                          <a:latin typeface="+mn-lt"/>
                        </a:rPr>
                        <a:t>KisanSetu</a:t>
                      </a:r>
                      <a:endParaRPr lang="en-IN" sz="1400" b="1" dirty="0">
                        <a:solidFill>
                          <a:srgbClr val="192D23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1400" b="1" dirty="0">
                        <a:solidFill>
                          <a:srgbClr val="192D23"/>
                        </a:solidFill>
                        <a:latin typeface="+mn-lt"/>
                      </a:endParaRPr>
                    </a:p>
                    <a:p>
                      <a:r>
                        <a:rPr lang="en-IN" dirty="0" err="1"/>
                        <a:t>Greshi</a:t>
                      </a:r>
                      <a:r>
                        <a:rPr lang="en-IN" dirty="0"/>
                        <a:t> Doshi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Hetvi Bhatt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Grishma Gajera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br>
                        <a:rPr lang="en-IN" dirty="0"/>
                      </a:br>
                      <a:r>
                        <a:rPr lang="en-IN" dirty="0"/>
                        <a:t>Nikki </a:t>
                      </a:r>
                      <a:r>
                        <a:rPr lang="en-IN" dirty="0" err="1"/>
                        <a:t>Bhoot</a:t>
                      </a:r>
                      <a:endParaRPr dirty="0"/>
                    </a:p>
                  </a:txBody>
                  <a:tcPr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600" dirty="0">
                        <a:solidFill>
                          <a:srgbClr val="192D23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rgbClr val="192D23"/>
                          </a:solidFill>
                          <a:latin typeface="Arial"/>
                          <a:hlinkClick r:id="rId3"/>
                        </a:rPr>
                        <a:t>greshidoshi779@gmail.com</a:t>
                      </a:r>
                      <a:endParaRPr lang="en-IN" sz="1600" dirty="0">
                        <a:solidFill>
                          <a:srgbClr val="192D23"/>
                        </a:solidFill>
                        <a:latin typeface="Arial"/>
                      </a:endParaRPr>
                    </a:p>
                    <a:p>
                      <a:pPr algn="ctr"/>
                      <a:r>
                        <a:rPr lang="en-IN" sz="1600" dirty="0">
                          <a:solidFill>
                            <a:srgbClr val="192D23"/>
                          </a:solidFill>
                          <a:latin typeface="Arial"/>
                          <a:hlinkClick r:id="rId4"/>
                        </a:rPr>
                        <a:t>greshidoshi.co24d1@scet.ac.in</a:t>
                      </a:r>
                      <a:endParaRPr lang="en-IN" sz="1600" dirty="0">
                        <a:solidFill>
                          <a:srgbClr val="192D23"/>
                        </a:solidFill>
                        <a:latin typeface="Arial"/>
                      </a:endParaRPr>
                    </a:p>
                    <a:p>
                      <a:pPr algn="ctr"/>
                      <a:r>
                        <a:rPr lang="en-IN" sz="1600" dirty="0">
                          <a:solidFill>
                            <a:srgbClr val="192D23"/>
                          </a:solidFill>
                          <a:latin typeface="+mn-lt"/>
                          <a:hlinkClick r:id="rId5"/>
                        </a:rPr>
                        <a:t>hetvibhatt1977@gmail.com</a:t>
                      </a:r>
                      <a:endParaRPr lang="en-IN" sz="1600" dirty="0">
                        <a:solidFill>
                          <a:srgbClr val="192D23"/>
                        </a:solidFill>
                        <a:latin typeface="+mn-lt"/>
                      </a:endParaRPr>
                    </a:p>
                    <a:p>
                      <a:pPr algn="ctr"/>
                      <a:r>
                        <a:rPr lang="en-IN" sz="1600" dirty="0">
                          <a:solidFill>
                            <a:srgbClr val="192D23"/>
                          </a:solidFill>
                          <a:latin typeface="+mn-lt"/>
                          <a:hlinkClick r:id="rId6"/>
                        </a:rPr>
                        <a:t>hetvibhatt.co24d1@scet.ac.in</a:t>
                      </a:r>
                      <a:endParaRPr lang="en-IN" sz="1600" dirty="0">
                        <a:solidFill>
                          <a:srgbClr val="192D23"/>
                        </a:solidFill>
                        <a:latin typeface="+mn-lt"/>
                      </a:endParaRPr>
                    </a:p>
                    <a:p>
                      <a:pPr algn="ctr"/>
                      <a:endParaRPr lang="en-IN" sz="1600" dirty="0">
                        <a:solidFill>
                          <a:srgbClr val="192D23"/>
                        </a:solidFill>
                        <a:latin typeface="+mn-lt"/>
                      </a:endParaRPr>
                    </a:p>
                    <a:p>
                      <a:pPr algn="ctr"/>
                      <a:endParaRPr sz="1600" dirty="0">
                        <a:solidFill>
                          <a:srgbClr val="192D23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rgbClr val="192D23"/>
                          </a:solidFill>
                          <a:latin typeface="Arial"/>
                        </a:rPr>
                        <a:t>9925194820</a:t>
                      </a:r>
                    </a:p>
                    <a:p>
                      <a:pPr algn="ctr"/>
                      <a:endParaRPr lang="en-IN" sz="1600" dirty="0">
                        <a:solidFill>
                          <a:srgbClr val="192D23"/>
                        </a:solidFill>
                        <a:latin typeface="Arial"/>
                      </a:endParaRPr>
                    </a:p>
                    <a:p>
                      <a:pPr algn="ctr"/>
                      <a:endParaRPr lang="en-IN" sz="1600" dirty="0">
                        <a:solidFill>
                          <a:srgbClr val="192D23"/>
                        </a:solidFill>
                        <a:latin typeface="Arial"/>
                      </a:endParaRPr>
                    </a:p>
                    <a:p>
                      <a:pPr algn="ctr"/>
                      <a:endParaRPr lang="en-IN" sz="1600" dirty="0">
                        <a:solidFill>
                          <a:srgbClr val="192D23"/>
                        </a:solidFill>
                        <a:latin typeface="Arial"/>
                      </a:endParaRPr>
                    </a:p>
                    <a:p>
                      <a:pPr algn="ctr"/>
                      <a:r>
                        <a:rPr lang="en-IN" sz="1600" dirty="0">
                          <a:solidFill>
                            <a:srgbClr val="192D23"/>
                          </a:solidFill>
                          <a:latin typeface="Arial"/>
                        </a:rPr>
                        <a:t>7383836069</a:t>
                      </a:r>
                      <a:endParaRPr sz="1600" dirty="0">
                        <a:solidFill>
                          <a:srgbClr val="192D23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DAE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6A77FA4-BA8C-E3DC-32CD-C74F134238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4518" y="3429000"/>
            <a:ext cx="650244" cy="7551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E48742-BE6D-3CDD-5763-DF9CE0D1D96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9697" t="3269" r="11987" b="14969"/>
          <a:stretch>
            <a:fillRect/>
          </a:stretch>
        </p:blipFill>
        <p:spPr>
          <a:xfrm>
            <a:off x="4164518" y="4319765"/>
            <a:ext cx="650244" cy="8625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Problem Statement – Challenge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075D2D"/>
                </a:solidFill>
                <a:latin typeface="Arial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199"/>
            <a:ext cx="11366484" cy="99719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Gujarat is a leading producer of cotton and groundnut, but farmers often face price exploitation by middlemen, limited access to real-time mandi prices, and weak bargaining power in direct market linkages.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060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075D2D"/>
                </a:solidFill>
                <a:latin typeface="Arial"/>
              </a:rPr>
              <a:t>The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71799"/>
            <a:ext cx="11533632" cy="6894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0" dirty="0">
                <a:solidFill>
                  <a:srgbClr val="000000"/>
                </a:solidFill>
                <a:latin typeface="Arial"/>
              </a:rPr>
              <a:t>Build an Agentic AI platform that provides real-time price intelligence, directly connects farmers with buyers, and supports informed selling, storage, quality and income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822191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075D2D"/>
                </a:solidFill>
                <a:latin typeface="Arial"/>
              </a:rPr>
              <a:t>Suggested AI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51560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Mandi Price Forecasting Agent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Direct Buyer–Farmer Matching Agent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Storage &amp; Selling Timing Advisor Agent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Quality Grading Assistance Agent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Farmer Income Dashboard Agent</a:t>
            </a:r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Proposed Solution – KisanSetu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18253"/>
            <a:ext cx="8521692" cy="720197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r>
              <a:rPr lang="en-IN" dirty="0" err="1"/>
              <a:t>KisanSetu</a:t>
            </a:r>
            <a:r>
              <a:rPr lang="en-IN" dirty="0"/>
              <a:t> is a multi-agent AI market linkage platform for Gujarat’s cotton and groundnut farmers.</a:t>
            </a:r>
          </a:p>
          <a:p>
            <a:r>
              <a:rPr lang="en-IN" dirty="0"/>
              <a:t> It combines price intelligence, buyer matching, storage/selling advice, quality support and income visibility.</a:t>
            </a:r>
          </a:p>
          <a:p>
            <a:pPr algn="l"/>
            <a:endParaRPr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05884" y="2514600"/>
            <a:ext cx="2971800" cy="123444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0475" y="2633472"/>
            <a:ext cx="264261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1. Price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6280" y="2944368"/>
            <a:ext cx="2225041" cy="720197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192D23"/>
                </a:solidFill>
                <a:latin typeface="Arial"/>
              </a:rPr>
              <a:t>Uses mandi data to show current prices, trends and forecast signals.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50836" y="2514600"/>
            <a:ext cx="2971800" cy="1234440"/>
          </a:xfrm>
          <a:prstGeom prst="roundRect">
            <a:avLst/>
          </a:prstGeom>
          <a:solidFill>
            <a:srgbClr val="FFF8DE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15427" y="2633472"/>
            <a:ext cx="264261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825C08"/>
                </a:solidFill>
                <a:latin typeface="Arial"/>
              </a:rPr>
              <a:t>2. Direct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67911" y="3017520"/>
            <a:ext cx="2642616" cy="720197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192D23"/>
                </a:solidFill>
                <a:latin typeface="Arial"/>
              </a:rPr>
              <a:t>Matches farmer listings with buyers using crop, quantity, grade and price.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884" y="3913632"/>
            <a:ext cx="2971800" cy="123444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475" y="4032504"/>
            <a:ext cx="264261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3. Selling +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916" y="4367349"/>
            <a:ext cx="2715768" cy="720197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192D23"/>
                </a:solidFill>
                <a:latin typeface="Arial"/>
              </a:rPr>
              <a:t>Advises whether to sell now or store based on price direction and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50836" y="3913632"/>
            <a:ext cx="2971800" cy="1234440"/>
          </a:xfrm>
          <a:prstGeom prst="roundRect">
            <a:avLst/>
          </a:prstGeom>
          <a:solidFill>
            <a:srgbClr val="FFF8DE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15427" y="4032504"/>
            <a:ext cx="264261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825C08"/>
                </a:solidFill>
                <a:latin typeface="Arial"/>
              </a:rPr>
              <a:t>4. Quality + Income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5427" y="4367349"/>
            <a:ext cx="2642616" cy="720197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192D23"/>
                </a:solidFill>
                <a:latin typeface="Arial"/>
              </a:rPr>
              <a:t>Supports quality grading and converts sales into simple income insights.</a:t>
            </a:r>
          </a:p>
        </p:txBody>
      </p:sp>
      <p:pic>
        <p:nvPicPr>
          <p:cNvPr id="16" name="Picture 15" descr="6fdc5a5f-f533-46bb-87f2-3e32a1a30b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994" y="1738450"/>
            <a:ext cx="5272725" cy="4526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24627" y="631393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0" dirty="0">
                <a:solidFill>
                  <a:srgbClr val="5F6964"/>
                </a:solidFill>
                <a:latin typeface="Arial"/>
              </a:rPr>
              <a:t>Working demo: farmer dashboard</a:t>
            </a:r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1AF82D6-50DA-9402-8E87-55DF83A8D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BE6B04-CE4D-0F4E-B3D8-59B86E61CDA1}"/>
              </a:ext>
            </a:extLst>
          </p:cNvPr>
          <p:cNvSpPr txBox="1"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Proposed Solution – KisanSetu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BA7642B-1E50-0672-A887-615D2A6E9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981" y="1412245"/>
            <a:ext cx="9878381" cy="453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521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BEAC563-B5C5-91B4-501A-17C7A7A8D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0E5639-FBEA-3E3F-EEFC-2988BAC606AF}"/>
              </a:ext>
            </a:extLst>
          </p:cNvPr>
          <p:cNvSpPr txBox="1"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Proposed Solution – KisanSetu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198AA7-FC1E-9D4A-BECD-FA3B315DF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44182"/>
            <a:ext cx="10457293" cy="479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8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Technology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1806" y="1234440"/>
            <a:ext cx="5303520" cy="114300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6397" y="1353312"/>
            <a:ext cx="49743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IBM BOB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2841" y="1737359"/>
            <a:ext cx="5132486" cy="521207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192D23"/>
                </a:solidFill>
                <a:latin typeface="Arial"/>
              </a:rPr>
              <a:t>Used as the development / project environment for building and demonstrating the 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15638" y="1234440"/>
            <a:ext cx="5303520" cy="114300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80230" y="1353312"/>
            <a:ext cx="49743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IBM Granite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0230" y="1737360"/>
            <a:ext cx="5138929" cy="50475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192D23"/>
                </a:solidFill>
                <a:latin typeface="Arial"/>
              </a:rPr>
              <a:t>Provides natural-language understanding, reasoning and agent responses.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1806" y="2651760"/>
            <a:ext cx="5303520" cy="114300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6397" y="2770632"/>
            <a:ext cx="49743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IBM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154679"/>
            <a:ext cx="4974336" cy="521207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192D23"/>
                </a:solidFill>
                <a:latin typeface="Arial"/>
              </a:rPr>
              <a:t>Provides cloud infrastructure for deployment, scalability and integration.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5638" y="2651760"/>
            <a:ext cx="5303520" cy="114300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0230" y="2770632"/>
            <a:ext cx="49743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LangFlow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0231" y="3154680"/>
            <a:ext cx="4974336" cy="52120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192D23"/>
                </a:solidFill>
                <a:latin typeface="Arial"/>
              </a:rPr>
              <a:t>Visual orchestration of the multi-agent workflow and connected components.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1806" y="4069080"/>
            <a:ext cx="5303520" cy="1143000"/>
          </a:xfrm>
          <a:prstGeom prst="roundRect">
            <a:avLst/>
          </a:prstGeom>
          <a:solidFill>
            <a:srgbClr val="FFF8DE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6397" y="4187952"/>
            <a:ext cx="49743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825C08"/>
                </a:solidFill>
                <a:latin typeface="Arial"/>
              </a:rPr>
              <a:t>RAG + Market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398" y="4571999"/>
            <a:ext cx="4974336" cy="521207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192D23"/>
                </a:solidFill>
                <a:latin typeface="Arial"/>
              </a:rPr>
              <a:t>Retrieves current / trusted market information before generating useful recommendations.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5638" y="4069080"/>
            <a:ext cx="5303520" cy="1143000"/>
          </a:xfrm>
          <a:prstGeom prst="roundRect">
            <a:avLst/>
          </a:prstGeom>
          <a:solidFill>
            <a:srgbClr val="FFF8DE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0230" y="4187952"/>
            <a:ext cx="49743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825C08"/>
                </a:solidFill>
                <a:latin typeface="Arial"/>
              </a:rPr>
              <a:t>React 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0231" y="4572000"/>
            <a:ext cx="4974336" cy="52120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192D23"/>
                </a:solidFill>
                <a:latin typeface="Arial"/>
              </a:rPr>
              <a:t>Farmer and buyer portals provide dashboards, listings, prices and AI-assisted decisions.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Role of Agentic AI in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7" y="1142999"/>
            <a:ext cx="11356651" cy="95103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  <a:latin typeface="Arial"/>
              </a:rPr>
              <a:t>Agentic AI enables KisanSetu to act as a goal-driven decision system rather than a simple chatbot. The agents can choose the relevant task, use available market/listing information, reason over the context, and return an actionable recommendation.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514600"/>
            <a:ext cx="3246120" cy="123444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2633472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Autonomous Task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940439"/>
            <a:ext cx="2916936" cy="81253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192D23"/>
                </a:solidFill>
                <a:latin typeface="Arial"/>
              </a:rPr>
              <a:t>Selects the right specialist agent for the farmer/buyer request.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33087" y="2514600"/>
            <a:ext cx="3246120" cy="123444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79" y="2633472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Context Awareness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79" y="3017520"/>
            <a:ext cx="2988024" cy="566309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192D23"/>
                </a:solidFill>
                <a:latin typeface="Arial"/>
              </a:rPr>
              <a:t>Uses crop, quantity, grade, location and price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07808" y="2514600"/>
            <a:ext cx="3246120" cy="1234440"/>
          </a:xfrm>
          <a:prstGeom prst="roundRect">
            <a:avLst/>
          </a:prstGeom>
          <a:solidFill>
            <a:srgbClr val="FFF8DE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2633472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825C08"/>
                </a:solidFill>
                <a:latin typeface="Arial"/>
              </a:rPr>
              <a:t>Tool + Data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49288"/>
            <a:ext cx="3081528" cy="81253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192D23"/>
                </a:solidFill>
                <a:latin typeface="Arial"/>
              </a:rPr>
              <a:t>Retrieves market/listing data before making a recommendation.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77639"/>
            <a:ext cx="3246120" cy="1234440"/>
          </a:xfrm>
          <a:prstGeom prst="roundRect">
            <a:avLst/>
          </a:prstGeom>
          <a:solidFill>
            <a:srgbClr val="FFF8DE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409651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825C08"/>
                </a:solidFill>
                <a:latin typeface="Arial"/>
              </a:rPr>
              <a:t>Multi-Agent 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468" y="4408985"/>
            <a:ext cx="3170017" cy="566309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192D23"/>
                </a:solidFill>
                <a:latin typeface="Arial"/>
              </a:rPr>
              <a:t>Forecasting, matching, storage and quality agents work together.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3950698"/>
            <a:ext cx="3246120" cy="123444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79" y="409651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Actionable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4372608"/>
            <a:ext cx="2988024" cy="81253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192D23"/>
                </a:solidFill>
                <a:latin typeface="Arial"/>
              </a:rPr>
              <a:t>Suggests where/when/how to sell, not only market information.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07808" y="3977639"/>
            <a:ext cx="3246120" cy="123444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0" y="409651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Continuous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403478"/>
            <a:ext cx="2916936" cy="81253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192D23"/>
                </a:solidFill>
                <a:latin typeface="Arial"/>
              </a:rPr>
              <a:t>Keeps the farmer informed through dashboards and AI assistance.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Novelty and Uniqueness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1436222" cy="6894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KisanSetu combines Agentic AI, market intelligence and direct market linkage into one farmer-focused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424160" cy="4343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Multi-Agent Intelligence – specialist agents collaborate instead of relying on one generic chatbot.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Real-Time Price Intelligence – brings mandi prices and trend signals into the farmer decision process.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Direct Buyer–Farmer Matching – matches quantity, crop, grade and price requirements to reduce middlemen dependence.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Selling + Storage Intelligence – supports the decision of selling now versus storing for a better opportunity.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Quality-Aware Recommendations – quality/grade becomes part of price and buyer matching.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Income Visibility – converts crop quantity and sale price into understandable revenue and crop-value insights.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Action-Oriented AI – the system explains what the farmer can do next, not only what the market looks like.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GitHub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100" b="1">
                <a:solidFill>
                  <a:srgbClr val="075D2D"/>
                </a:solidFill>
                <a:latin typeface="Arial"/>
              </a:rPr>
              <a:t>Public GitHub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8486426" cy="381643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r>
              <a:rPr sz="2000" b="1" dirty="0">
                <a:solidFill>
                  <a:srgbClr val="4D8EC9"/>
                </a:solidFill>
                <a:latin typeface="Arial"/>
              </a:rPr>
              <a:t>GitHub URL:  </a:t>
            </a:r>
            <a:r>
              <a:rPr lang="en-IN" sz="2000" b="1" dirty="0">
                <a:solidFill>
                  <a:srgbClr val="4D8EC9"/>
                </a:solidFill>
              </a:rPr>
              <a:t>https://github.com/hetvibhatt19/kisansetu-agri-platform</a:t>
            </a:r>
            <a:endParaRPr sz="2000" b="1" dirty="0">
              <a:solidFill>
                <a:srgbClr val="4D8EC9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rial"/>
              </a:rPr>
              <a:t>Repository should contain: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332720" cy="2468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README.md with project overview and setup steps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Source code for frontend / backend / agent workflow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app.json (as required by the submission template)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Problem statement PDF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Final project presentation PPTX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Any required configuration / supporting files</a:t>
            </a: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5120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Live Mandi API Integration – replace simulated data with verified real-time APMC/market feeds.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Advanced Price Forecasting – improve forecasts using historical prices, arrivals, weather and market signals.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WhatsApp / Voice Assistant – allow farmers to ask questions in Gujarati and other Indian languages.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Image-Based Quality Grading – estimate crop quality/grade from uploaded cotton or groundnut images.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Digital Negotiation Support – give buyers and farmers AI-assisted price and quantity negotiation suggestions.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Logistics &amp; Payments – add transport coordination, digital agreements and payment tracking.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Personalized Farmer Memory – remember crop inventory, preferred markets and previous selling decisions with consent.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Scalable IBM Cloud Deployment – move from demo mode to production-grade multi-user deployment.</a:t>
            </a: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Certificates Earned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39" y="1417320"/>
            <a:ext cx="10879141" cy="5056632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112301" y="1417320"/>
            <a:ext cx="1882054" cy="33547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1" dirty="0" err="1">
                <a:solidFill>
                  <a:srgbClr val="075D2D"/>
                </a:solidFill>
                <a:latin typeface="Arial"/>
              </a:rPr>
              <a:t>Credly</a:t>
            </a:r>
            <a:r>
              <a:rPr sz="1700" b="1" dirty="0">
                <a:solidFill>
                  <a:srgbClr val="075D2D"/>
                </a:solidFill>
                <a:latin typeface="Arial"/>
              </a:rPr>
              <a:t> Certificate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B54779-5CF2-D4A4-EC48-924AB4B35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638" y="1847088"/>
            <a:ext cx="5826056" cy="431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Certificates Earned – IBM BOB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400" b="1">
                <a:solidFill>
                  <a:srgbClr val="075D2D"/>
                </a:solidFill>
                <a:latin typeface="Arial"/>
              </a:rPr>
              <a:t>IBM BOB Certificate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FBF094-BC18-803E-85BF-93219BC8E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135112" y="624968"/>
            <a:ext cx="4896123" cy="730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915</Words>
  <Application>Microsoft Office PowerPoint</Application>
  <PresentationFormat>Widescreen</PresentationFormat>
  <Paragraphs>118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Hetvi Bhatt</cp:lastModifiedBy>
  <cp:revision>20</cp:revision>
  <dcterms:created xsi:type="dcterms:W3CDTF">2025-07-08T05:06:56Z</dcterms:created>
  <dcterms:modified xsi:type="dcterms:W3CDTF">2026-09-13T13:51:24Z</dcterms:modified>
</cp:coreProperties>
</file>